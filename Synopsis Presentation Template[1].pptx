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7" r:id="rId5"/>
    <p:sldId id="500" r:id="rId6"/>
    <p:sldId id="501" r:id="rId7"/>
    <p:sldId id="502" r:id="rId8"/>
    <p:sldId id="503" r:id="rId9"/>
    <p:sldId id="510" r:id="rId10"/>
    <p:sldId id="506" r:id="rId11"/>
    <p:sldId id="509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4660"/>
  </p:normalViewPr>
  <p:slideViewPr>
    <p:cSldViewPr>
      <p:cViewPr varScale="1">
        <p:scale>
          <a:sx n="78" d="100"/>
          <a:sy n="78" d="100"/>
        </p:scale>
        <p:origin x="269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50CB9-56DE-31B2-1098-9E71ADED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157ED-9196-070B-03D2-6FE631705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38988-A9A4-28F1-3031-903B0DC0F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AD130-048E-2ECD-E747-13E1DC11F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565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0FAA-8FF1-CA16-503E-7EE1828F0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DDF11-2325-93C8-615C-4DD2EC242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7C88F-6B42-67A0-95F1-7C89B0444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F2525-8EA6-D7F2-FEE2-460ED625C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887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Second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082048"/>
              </p:ext>
            </p:extLst>
          </p:nvPr>
        </p:nvGraphicFramePr>
        <p:xfrm>
          <a:off x="1696134" y="3086002"/>
          <a:ext cx="6096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2401731349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Rudraraj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Radhwani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2493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2301730337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Dhruv Arora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2301730334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Yuvraj Rathi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2301730311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Amay</a:t>
                      </a:r>
                      <a:r>
                        <a:rPr lang="en-US" dirty="0"/>
                        <a:t> Yadav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299287" y="1212054"/>
            <a:ext cx="46592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sz="4000" b="1" dirty="0">
                <a:solidFill>
                  <a:srgbClr val="C00000"/>
                </a:solidFill>
                <a:highlight>
                  <a:srgbClr val="FFFF00"/>
                </a:highlight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</a:t>
            </a:r>
            <a:r>
              <a:rPr lang="en-IN" sz="4000" b="1" dirty="0" err="1">
                <a:solidFill>
                  <a:srgbClr val="C00000"/>
                </a:solidFill>
                <a:highlight>
                  <a:srgbClr val="FFFF00"/>
                </a:highlight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entiment</a:t>
            </a:r>
            <a:r>
              <a:rPr lang="en-IN" sz="4000" b="1" dirty="0">
                <a:solidFill>
                  <a:srgbClr val="C00000"/>
                </a:solidFill>
                <a:highlight>
                  <a:srgbClr val="FFFF00"/>
                </a:highlight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Industry Mentor:</a:t>
            </a:r>
          </a:p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5592E-CBA1-5D2C-E769-912C6EE46A62}"/>
              </a:ext>
            </a:extLst>
          </p:cNvPr>
          <p:cNvSpPr txBox="1"/>
          <p:nvPr/>
        </p:nvSpPr>
        <p:spPr>
          <a:xfrm>
            <a:off x="395536" y="1386529"/>
            <a:ext cx="4968552" cy="141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550"/>
              </a:lnSpc>
            </a:pPr>
            <a:r>
              <a:rPr lang="en-US" sz="1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What is Sentiment Analysis?</a:t>
            </a:r>
            <a:endParaRPr lang="en-US" sz="1800" dirty="0"/>
          </a:p>
          <a:p>
            <a:pPr marL="0" indent="0">
              <a:lnSpc>
                <a:spcPts val="5550"/>
              </a:lnSpc>
              <a:buNone/>
            </a:pP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DF606-B699-4BCD-0B52-B32BD650B3E2}"/>
              </a:ext>
            </a:extLst>
          </p:cNvPr>
          <p:cNvSpPr txBox="1"/>
          <p:nvPr/>
        </p:nvSpPr>
        <p:spPr>
          <a:xfrm>
            <a:off x="396131" y="2436973"/>
            <a:ext cx="46005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Sentiment analysis is the process of computationally identifying and extracting subjective information in source materials.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511558-CAA9-C2DB-F8A8-BF7DC53FC367}"/>
              </a:ext>
            </a:extLst>
          </p:cNvPr>
          <p:cNvSpPr txBox="1"/>
          <p:nvPr/>
        </p:nvSpPr>
        <p:spPr>
          <a:xfrm>
            <a:off x="395536" y="3911481"/>
            <a:ext cx="4707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helps understand the emotional tone behind a piece of text, determining whether the sentiment is positive, negative, or neutral.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E3D306D-82C3-2F33-DB01-CA652A4299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9911" y="1061448"/>
            <a:ext cx="4130601" cy="567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BCB9D-96AE-CB6E-9C36-464483450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2461A6-C9CF-A279-E846-5AFA1CEF0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880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99D4242-71CF-DE3F-0B66-C21402FDC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59260"/>
            <a:ext cx="455015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4400" dirty="0">
                <a:solidFill>
                  <a:prstClr val="black"/>
                </a:solidFill>
                <a:latin typeface="Calibri"/>
                <a:ea typeface="+mj-ea"/>
                <a:cs typeface="+mj-cs"/>
                <a:sym typeface="Arial"/>
              </a:rPr>
              <a:t>A</a:t>
            </a:r>
            <a:r>
              <a:rPr lang="en-IN" sz="4400" dirty="0">
                <a:solidFill>
                  <a:prstClr val="black"/>
                </a:solidFill>
                <a:latin typeface="Calibri"/>
                <a:ea typeface="+mj-ea"/>
                <a:cs typeface="+mj-cs"/>
                <a:sym typeface="Arial"/>
              </a:rPr>
              <a:t>bout the Problem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824933-86C5-EFBA-36B9-358001A06AC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E3AE5FC-8649-27D3-900D-5F6329A7F4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099852-B907-412D-6E46-D21E628B3AD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35B42D-97D5-15D6-65DB-8EA3E4214161}"/>
              </a:ext>
            </a:extLst>
          </p:cNvPr>
          <p:cNvSpPr txBox="1"/>
          <p:nvPr/>
        </p:nvSpPr>
        <p:spPr>
          <a:xfrm>
            <a:off x="198280" y="1194784"/>
            <a:ext cx="86221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Problems Identified: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Difficulty in understanding public opinion on the budget.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Subjectivity and bias in sentiment interpretation.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7DEE1-817E-70CF-27F8-42E5D31C6F68}"/>
              </a:ext>
            </a:extLst>
          </p:cNvPr>
          <p:cNvSpPr txBox="1"/>
          <p:nvPr/>
        </p:nvSpPr>
        <p:spPr>
          <a:xfrm>
            <a:off x="198280" y="2118114"/>
            <a:ext cx="88382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Issues or Problems: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collection challenges (scraping, cleaning, and preprocessing).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of sentiment classification (misinterpretation of sarcasm, mixed sentiments).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CA9FF4-2BB0-ED66-AB3B-F4E45CD0C07F}"/>
              </a:ext>
            </a:extLst>
          </p:cNvPr>
          <p:cNvSpPr txBox="1"/>
          <p:nvPr/>
        </p:nvSpPr>
        <p:spPr>
          <a:xfrm>
            <a:off x="198280" y="3041444"/>
            <a:ext cx="8622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Need for a 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reliable sentiment analysis model to classify opinions as positive, negative, or neutral.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9A903C-DF44-F6E5-68B5-703C1AA0D54E}"/>
              </a:ext>
            </a:extLst>
          </p:cNvPr>
          <p:cNvSpPr txBox="1"/>
          <p:nvPr/>
        </p:nvSpPr>
        <p:spPr>
          <a:xfrm>
            <a:off x="216437" y="3604084"/>
            <a:ext cx="6552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visualization to make findings easier to interpret.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A7CF33-C841-0D5F-E8DF-F286AD175C9E}"/>
              </a:ext>
            </a:extLst>
          </p:cNvPr>
          <p:cNvSpPr txBox="1"/>
          <p:nvPr/>
        </p:nvSpPr>
        <p:spPr>
          <a:xfrm>
            <a:off x="216436" y="3932397"/>
            <a:ext cx="67318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4. Existing Solutions: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Lexicon-based sentiment analysis (e.g., VADER, </a:t>
            </a:r>
            <a:r>
              <a:rPr lang="en-IN" dirty="0" err="1"/>
              <a:t>SentiWordNet</a:t>
            </a:r>
            <a:r>
              <a:rPr lang="en-IN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 models (Naive Bayes, SVM, Decision Trees).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8403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6474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D7EC8-BFDC-C4B6-F5D1-9906B7D02893}"/>
              </a:ext>
            </a:extLst>
          </p:cNvPr>
          <p:cNvSpPr txBox="1"/>
          <p:nvPr/>
        </p:nvSpPr>
        <p:spPr>
          <a:xfrm>
            <a:off x="467544" y="1228397"/>
            <a:ext cx="691276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Union Budget of India 2025</a:t>
            </a:r>
            <a:r>
              <a:rPr lang="en-US" sz="2000" dirty="0"/>
              <a:t> significantly impacts key sectors like healthcare, infrastructure, education, and industries. Understanding </a:t>
            </a:r>
            <a:r>
              <a:rPr lang="en-US" sz="2000" b="1" dirty="0"/>
              <a:t>public perception</a:t>
            </a:r>
            <a:r>
              <a:rPr lang="en-US" sz="2000" dirty="0"/>
              <a:t> of the budget is crucial for policymakers, economists, and businesses.</a:t>
            </a:r>
          </a:p>
          <a:p>
            <a:endParaRPr lang="en-US" sz="2000" dirty="0"/>
          </a:p>
          <a:p>
            <a:r>
              <a:rPr lang="en-US" sz="2000" dirty="0"/>
              <a:t>However, traditional methods like </a:t>
            </a:r>
            <a:r>
              <a:rPr lang="en-US" sz="2000" b="1" dirty="0"/>
              <a:t>surveys and opinion polls</a:t>
            </a:r>
            <a:r>
              <a:rPr lang="en-US" sz="2000" dirty="0"/>
              <a:t> are inefficient due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Huge volumes of unstructured data</a:t>
            </a:r>
            <a:r>
              <a:rPr lang="en-US" sz="2000" dirty="0"/>
              <a:t> across social media, news, and online forums.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Dynamic and diverse sentiments</a:t>
            </a:r>
            <a:r>
              <a:rPr lang="en-US" sz="2000" dirty="0"/>
              <a:t> expressed in complex, context-dependent language.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Limitations of existing studies</a:t>
            </a:r>
            <a:r>
              <a:rPr lang="en-US" sz="2000" dirty="0"/>
              <a:t>, which often use single-source datasets and basic ML models that struggle with sarcasm and nuanced opinions.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08539FE-C025-6905-13D3-0AB4A7067F25}"/>
              </a:ext>
            </a:extLst>
          </p:cNvPr>
          <p:cNvGrpSpPr/>
          <p:nvPr/>
        </p:nvGrpSpPr>
        <p:grpSpPr>
          <a:xfrm>
            <a:off x="-2" y="1396800"/>
            <a:ext cx="9144001" cy="4318303"/>
            <a:chOff x="-1" y="1061448"/>
            <a:chExt cx="9144001" cy="431830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B3EF077-94F5-8F5B-B978-C35B2C8D97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2852936"/>
              <a:ext cx="9144000" cy="252681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65F865E-4F87-A2F1-FAB6-62C517B40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" y="1061448"/>
              <a:ext cx="9144000" cy="2414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85731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Methodology, Tools, and Techniques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BEF75-481C-C3DA-5E95-3CB24306C6EE}"/>
              </a:ext>
            </a:extLst>
          </p:cNvPr>
          <p:cNvSpPr txBox="1"/>
          <p:nvPr/>
        </p:nvSpPr>
        <p:spPr>
          <a:xfrm>
            <a:off x="-26275" y="1293834"/>
            <a:ext cx="9062412" cy="64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lnSpc>
                <a:spcPts val="1350"/>
              </a:lnSpc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Data Collection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just" rtl="0" fontAlgn="base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data collection process focuses on gathering public opinion regarding the Union Budget 2025 from multiple sources, ensuring a diverse dataset: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641B35-C2F8-2747-0142-6B426611560B}"/>
              </a:ext>
            </a:extLst>
          </p:cNvPr>
          <p:cNvSpPr txBox="1"/>
          <p:nvPr/>
        </p:nvSpPr>
        <p:spPr>
          <a:xfrm>
            <a:off x="-52551" y="2203970"/>
            <a:ext cx="9180512" cy="1004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lnSpc>
                <a:spcPts val="1350"/>
              </a:lnSpc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Data Preprocessing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just" rtl="0" fontAlgn="base">
              <a:lnSpc>
                <a:spcPts val="1350"/>
              </a:lnSpc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Once the data is retrieved, preprocessing steps will be applied to clean and prepare the text for analysis: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just" rtl="0" fontAlgn="base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Remove Stop Words – "the," "is," and "and" will be removed because they're always irrelevant common words.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9A722F-9D36-D96A-AB3B-40AF2FA45A37}"/>
              </a:ext>
            </a:extLst>
          </p:cNvPr>
          <p:cNvSpPr txBox="1"/>
          <p:nvPr/>
        </p:nvSpPr>
        <p:spPr>
          <a:xfrm>
            <a:off x="-52551" y="3318609"/>
            <a:ext cx="8999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Sentiment Analysis​</a:t>
            </a:r>
            <a:endParaRPr lang="en-US" b="1" dirty="0"/>
          </a:p>
          <a:p>
            <a:r>
              <a:rPr lang="en-US" dirty="0"/>
              <a:t>Sentiment analysis will be conducted using </a:t>
            </a:r>
            <a:r>
              <a:rPr lang="en-US" dirty="0" err="1"/>
              <a:t>TextBlob</a:t>
            </a:r>
            <a:r>
              <a:rPr lang="en-US" dirty="0"/>
              <a:t> for preliminary analysis, followed by SVM and Naive Bayes models, which will be evaluated using accuracy and F1-score to determine the best-performing model.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AEADD1-583D-A551-1AC2-54D04214A8B8}"/>
              </a:ext>
            </a:extLst>
          </p:cNvPr>
          <p:cNvSpPr txBox="1"/>
          <p:nvPr/>
        </p:nvSpPr>
        <p:spPr>
          <a:xfrm>
            <a:off x="12058" y="4518938"/>
            <a:ext cx="86409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Visualization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result of the sentiment analysis will be presented with visualizations: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GB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Bar Graphs – Bar graphs will be deployed to represent the share of positive, negative, and neutral comments for different topics in the budget.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Word Clouds – The word clouds will be used to visualize the frequently mentioned terms and keywords associated with public reactions toward the budget.</a:t>
            </a:r>
            <a:endParaRPr lang="en-GB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 Flowchart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89AF5B-5E17-9BE2-9387-1978C6D9E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1061449"/>
            <a:ext cx="9143999" cy="511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D6658C-403D-6AFA-E432-196DE33D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21" y="-1"/>
            <a:ext cx="9151221" cy="68665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48C55C-E067-E00C-C24A-FA450E915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0768"/>
            <a:ext cx="8957934" cy="4680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0A74A1-CF28-D917-D3CA-936DF8F56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1412776"/>
            <a:ext cx="2575783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17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16F175-D4A8-C76D-BC69-72B9E9D758E3}"/>
              </a:ext>
            </a:extLst>
          </p:cNvPr>
          <p:cNvSpPr txBox="1"/>
          <p:nvPr/>
        </p:nvSpPr>
        <p:spPr>
          <a:xfrm>
            <a:off x="168271" y="1293833"/>
            <a:ext cx="54838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Expected Results: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Accurate classification of public sentiment (Positive, Negative, Neutral) regarding the Union Budget 2025.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Identification of key budget topics that generate the most public discussion.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Visualization of sentiment trends using interactive graphs and dashboards.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54FE8B-52DC-9251-86DE-9864232386B2}"/>
              </a:ext>
            </a:extLst>
          </p:cNvPr>
          <p:cNvSpPr txBox="1"/>
          <p:nvPr/>
        </p:nvSpPr>
        <p:spPr>
          <a:xfrm>
            <a:off x="179512" y="2881709"/>
            <a:ext cx="4670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2D23DB-F9C2-A52C-A754-B5A5CA61AB07}"/>
              </a:ext>
            </a:extLst>
          </p:cNvPr>
          <p:cNvSpPr txBox="1"/>
          <p:nvPr/>
        </p:nvSpPr>
        <p:spPr>
          <a:xfrm>
            <a:off x="135196" y="3358128"/>
            <a:ext cx="467032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Impact: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For Economists &amp; Analysts:</a:t>
            </a:r>
            <a:r>
              <a:rPr lang="en-US" dirty="0"/>
              <a:t> Better understanding of economic sentiment and public response to fiscal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For Businesses &amp; Investors:</a:t>
            </a:r>
            <a:r>
              <a:rPr lang="en-US" dirty="0"/>
              <a:t> Strategic decision-making based on public and market sentiment.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For Media &amp; Public:</a:t>
            </a:r>
            <a:r>
              <a:rPr lang="en-US" dirty="0"/>
              <a:t> Enhanced transparency and awareness regarding budget reception and its implications.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A455C1F-3F67-91CF-25DD-0E297AC0B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047" y="1060145"/>
            <a:ext cx="3734124" cy="568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A90B0-DF45-D772-F2C2-4DA9C9459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841DBC-268C-A507-A4A1-7C7360656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FEB11A7-55F7-BA44-4ABC-0E9514E1A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4D0127-5B9D-1F1F-5AC4-DBE6A7B70CC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1913F5F-C1D7-7FAC-0C7C-5A9C9314CC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9A5981-DFEE-F419-D91C-B08F4A8F86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1230E-A2B3-BF6C-96B3-DAEBFDD3C4B8}"/>
              </a:ext>
            </a:extLst>
          </p:cNvPr>
          <p:cNvSpPr txBox="1"/>
          <p:nvPr/>
        </p:nvSpPr>
        <p:spPr>
          <a:xfrm>
            <a:off x="212668" y="1418814"/>
            <a:ext cx="803174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Bollen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J., Mao, H., &amp; Zeng, X. (2011). Twitter's mood predicts the stock market. Journal of Computational Science, 2(1), 1-8.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IN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Pang, B., Lee, L., &amp; </a:t>
            </a:r>
            <a:r>
              <a:rPr lang="en-IN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Vaithyanathan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S. (2002). Thumbs up? Sentiment classification using machine learning techniques. Proceedings of the ACL-02 conference on Empirical methods in natural language processing, 79-86.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IN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Kumar, A., &amp; Saini, S. (2020). Public sentiment analysis of the demonetization policy of the Indian government. Proceedings of the 2020 3rd International Conference on Computing and Communications Technologies, 239-244.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IN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Rehurek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R., &amp; Sojka, P. (2010). A software framework for topic </a:t>
            </a:r>
            <a:r>
              <a:rPr lang="en-IN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modeling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with large corpora. Proceedings of the LREC 2010 Workshop on New Challenges for NLP Frameworks, 45-50.</a:t>
            </a:r>
            <a:endParaRPr lang="en-IN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just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15379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7384</TotalTime>
  <Words>802</Words>
  <Application>Microsoft Office PowerPoint</Application>
  <PresentationFormat>On-screen Show (4:3)</PresentationFormat>
  <Paragraphs>95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Cambria</vt:lpstr>
      <vt:lpstr>Garamond</vt:lpstr>
      <vt:lpstr>Lato Bold</vt:lpstr>
      <vt:lpstr>Segoe UI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DHRUV ARORA 2301730337</cp:lastModifiedBy>
  <cp:revision>321</cp:revision>
  <cp:lastPrinted>2022-09-05T08:43:44Z</cp:lastPrinted>
  <dcterms:created xsi:type="dcterms:W3CDTF">2020-01-16T09:05:56Z</dcterms:created>
  <dcterms:modified xsi:type="dcterms:W3CDTF">2025-02-07T04:41:53Z</dcterms:modified>
</cp:coreProperties>
</file>